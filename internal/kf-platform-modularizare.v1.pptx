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54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693408"/>
            <a:ext cx="12191695" cy="164592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91440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3540C"/>
                </a:solidFill>
                <a:latin typeface="Calibri"/>
              </a:rPr>
              <a:t>KF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KF Platform Modularization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CDE498"/>
                </a:solidFill>
                <a:latin typeface="Calibri"/>
              </a:rPr>
              <a:t>Compare Notes — Governance §3 vs. the lead-dev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241280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EF7E6"/>
                </a:solidFill>
                <a:latin typeface="Calibri"/>
              </a:rPr>
              <a:t>Reconciling ALADIN Governance §3 (Module Registry) against the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EF7E6"/>
                </a:solidFill>
                <a:latin typeface="Calibri"/>
              </a:rPr>
              <a:t>“KF Hybrid Module Platform” proposal — one module contract, four runtimes.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DE498"/>
                </a:solidFill>
                <a:latin typeface="Calibri"/>
              </a:rPr>
              <a:t>Conceptual verdict: ~80% convergent. The deck is a superset; governance is the safe floor.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E498"/>
                </a:solidFill>
                <a:latin typeface="Calibri"/>
              </a:rPr>
              <a:t>v1 · internal working note · forest theme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85800" cy="502920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85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7472"/>
            <a:ext cx="86868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EAA49"/>
                </a:solidFill>
                <a:latin typeface="Calibri"/>
              </a:rPr>
              <a:t>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66928"/>
            <a:ext cx="969264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3540C"/>
                </a:solidFill>
                <a:latin typeface="Calibri"/>
              </a:rPr>
              <a:t>No fundamental conflict — same architecture, different altitude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47472"/>
            <a:ext cx="6858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DEFC8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74552" cy="18288"/>
          </a:xfrm>
          <a:prstGeom prst="roundRect">
            <a:avLst/>
          </a:prstGeom>
          <a:solidFill>
            <a:srgbClr val="DD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128016" cy="105156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7"/>
            <a:ext cx="108813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3540C"/>
                </a:solidFill>
                <a:latin typeface="Calibri"/>
              </a:rPr>
              <a:t>Shared thesis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A3D15"/>
                </a:solidFill>
                <a:latin typeface="Calibri"/>
              </a:rPr>
              <a:t>Both isolate modules at the protocol boundary (HTTP / OpenAPI / events), never in-process. A module is defined by its contract, not its technology.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24912"/>
            <a:ext cx="11274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724912"/>
            <a:ext cx="128016" cy="105156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108813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3540C"/>
                </a:solidFill>
                <a:latin typeface="Calibri"/>
              </a:rPr>
              <a:t>Superset vs. specialization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A3D15"/>
                </a:solidFill>
                <a:latin typeface="Calibri"/>
              </a:rPr>
              <a:t>The deck generalizes to one contract + four runtimes (internal + external). Governance §3 describes the external-partner case 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95344"/>
            <a:ext cx="11274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895344"/>
            <a:ext cx="128016" cy="105156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05072"/>
            <a:ext cx="108813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3540C"/>
                </a:solidFill>
                <a:latin typeface="Calibri"/>
              </a:rPr>
              <a:t>The one safety call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A3D15"/>
                </a:solidFill>
                <a:latin typeface="Calibri"/>
              </a:rPr>
              <a:t>Do NOT give untrusted third-party a shared-runtime (Module Federation) UI seat. Trust tier decides the mechanism.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65776"/>
            <a:ext cx="112745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65776"/>
            <a:ext cx="128016" cy="105156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75504"/>
            <a:ext cx="108813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3540C"/>
                </a:solidFill>
                <a:latin typeface="Calibri"/>
              </a:rPr>
              <a:t>Direction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A3D15"/>
                </a:solidFill>
                <a:latin typeface="Calibri"/>
              </a:rPr>
              <a:t>Adopt the deck's frame + 3-state lifecycle; keep governance's isolation defaults as the floor; merge both integration stories.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B54"/>
                </a:solidFill>
                <a:latin typeface="Calibri"/>
              </a:rPr>
              <a:t>kf-platform-modularizare.v1 · TL;DR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85800" cy="502920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85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7472"/>
            <a:ext cx="86868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EAA49"/>
                </a:solidFill>
                <a:latin typeface="Calibri"/>
              </a:rPr>
              <a:t>CONVERGENCE  [OK]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66928"/>
            <a:ext cx="969264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3540C"/>
                </a:solidFill>
                <a:latin typeface="Calibri"/>
              </a:rPr>
              <a:t>Where we already 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47472"/>
            <a:ext cx="6858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DEFC8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74552" cy="18288"/>
          </a:xfrm>
          <a:prstGeom prst="roundRect">
            <a:avLst/>
          </a:prstGeom>
          <a:solidFill>
            <a:srgbClr val="DD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4114800" cy="384048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41148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63040"/>
            <a:ext cx="3657600" cy="384048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65760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Governance §3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520440" cy="384048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520440" cy="3840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Lead-dev deck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47088"/>
            <a:ext cx="41148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847088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No in-process plugin loading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1847088"/>
            <a:ext cx="36576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847088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do not load partner JARs (§3.1)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47088"/>
            <a:ext cx="352044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847088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avoid in-process plugins (s7)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41148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322576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Isolate at protocol boundary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322576"/>
            <a:ext cx="36576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2322576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decouple over HTTP/gRPC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322576"/>
            <a:ext cx="352044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322576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SDK + containerized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798064"/>
            <a:ext cx="41148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798064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Contract, not tech, defines a module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798064"/>
            <a:ext cx="36576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2798064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isolate at the boundary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798064"/>
            <a:ext cx="352044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2798064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manifest + contract (s3)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273552"/>
            <a:ext cx="41148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273552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Next shell lazy-mounts remote UI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273552"/>
            <a:ext cx="36576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3273552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next/dynamic by tenant (§3.3)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273552"/>
            <a:ext cx="352044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273552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App1 mounts App2 into slot (s5-6)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749039"/>
            <a:ext cx="41148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3749039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Registry + manifest + entitlement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3749039"/>
            <a:ext cx="36576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5152" y="3749039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toggle flips routing flag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749039"/>
            <a:ext cx="352044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3749039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Registry · manifest · slots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224527"/>
            <a:ext cx="41148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224527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SDK for module→core, never DB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0" y="4224527"/>
            <a:ext cx="36576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4224527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Platform SDK, never our DB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4224527"/>
            <a:ext cx="352044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4224527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SDK gen; API/events into Core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700015"/>
            <a:ext cx="41148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4700015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Tenant-scoped everything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0" y="4700015"/>
            <a:ext cx="36576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45152" y="4700015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X-Tenant-ID per request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700015"/>
            <a:ext cx="352044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02752" y="4700015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tenant context + rights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175503"/>
            <a:ext cx="41148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5175503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Versioned / pinned releases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5175503"/>
            <a:ext cx="365760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5152" y="5175503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pin a tag, not a branch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175503"/>
            <a:ext cx="3520440" cy="475488"/>
          </a:xfrm>
          <a:prstGeom prst="roundRect">
            <a:avLst/>
          </a:prstGeom>
          <a:solidFill>
            <a:srgbClr val="DDEFC8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02752" y="5175503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versioning + SBOM/revocation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650991"/>
            <a:ext cx="41148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5650991"/>
            <a:ext cx="39684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3540C"/>
                </a:solidFill>
                <a:latin typeface="Calibri"/>
              </a:rPr>
              <a:t>Incremental, no big-bang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0" y="5650991"/>
            <a:ext cx="365760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45152" y="5650991"/>
            <a:ext cx="351129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Strangler Fig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0" y="5650991"/>
            <a:ext cx="3520440" cy="47548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EF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02752" y="5650991"/>
            <a:ext cx="3374136" cy="4754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fara big bang rewrite (s11)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B54"/>
                </a:solidFill>
                <a:latin typeface="Calibri"/>
              </a:rPr>
              <a:t>Disagreement surface is small — the deck adds altitude §3 doesn't yet carry.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85800" cy="502920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85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7472"/>
            <a:ext cx="86868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EAA49"/>
                </a:solidFill>
                <a:latin typeface="Calibri"/>
              </a:rPr>
              <a:t>DEVIATIONS  [DEV]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66928"/>
            <a:ext cx="969264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3540C"/>
                </a:solidFill>
                <a:latin typeface="Calibri"/>
              </a:rPr>
              <a:t>Where they differ — ranked by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47472"/>
            <a:ext cx="6858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DEFC8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74552" cy="18288"/>
          </a:xfrm>
          <a:prstGeom prst="roundRect">
            <a:avLst/>
          </a:prstGeom>
          <a:solidFill>
            <a:srgbClr val="DD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11274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481328"/>
            <a:ext cx="685800" cy="658368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685800" cy="65836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536192"/>
            <a:ext cx="103327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Runtime taxonomy: one vs. four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§3 assumes one runtime (external service). Deck: Built-in / Remote UI / Service / Sandboxed under one contract.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12848"/>
            <a:ext cx="11274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212848"/>
            <a:ext cx="685800" cy="658368"/>
          </a:xfrm>
          <a:prstGeom prst="roundRect">
            <a:avLst/>
          </a:prstGeom>
          <a:solidFill>
            <a:srgbClr val="B8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12848"/>
            <a:ext cx="685800" cy="65836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267712"/>
            <a:ext cx="103327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UI: Web Component vs. Module Federation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MF shares the host runtime — great for trusted code, a blast-radius risk for third-party.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44368"/>
            <a:ext cx="11274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944368"/>
            <a:ext cx="685800" cy="658368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4368"/>
            <a:ext cx="685800" cy="65836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999232"/>
            <a:ext cx="103327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Lifecycle: on/off flag vs. Install→Load→Enable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§3's flag == the Enable state. The other two add health/compat gating cheaply.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75887"/>
            <a:ext cx="11274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75887"/>
            <a:ext cx="685800" cy="658368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75887"/>
            <a:ext cx="685800" cy="65836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730751"/>
            <a:ext cx="103327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Data: one rule vs. tiered by trust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Built-in shares Postgres; service owns DB; third-party never touches Core DB.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07407"/>
            <a:ext cx="11274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4407407"/>
            <a:ext cx="685800" cy="65836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07407"/>
            <a:ext cx="685800" cy="65836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462271"/>
            <a:ext cx="103327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Trust &amp; supply chain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Deck adds signing / SBOM / revocation / rollback — fills a real §3 gap.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38927"/>
            <a:ext cx="11274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5138927"/>
            <a:ext cx="685800" cy="65836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38927"/>
            <a:ext cx="685800" cy="65836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193791"/>
            <a:ext cx="103327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API composition vs. event-driven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Complementary: gateway catalog (sync) + event bus/outbox (async). Keep both.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7"/>
            <a:ext cx="11274552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5870447"/>
            <a:ext cx="685800" cy="658368"/>
          </a:xfrm>
          <a:prstGeom prst="roundRect">
            <a:avLst/>
          </a:prstGeom>
          <a:solidFill>
            <a:srgbClr val="5A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870447"/>
            <a:ext cx="685800" cy="65836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925311"/>
            <a:ext cx="103327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Scope: partner-outward vs. codebase-inward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1A3D15"/>
                </a:solidFill>
                <a:latin typeface="Calibri"/>
              </a:rPr>
              <a:t>Root cause of D1–D5: same architecture seen from opposite ends of the trust spectrum.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B54"/>
                </a:solidFill>
                <a:latin typeface="Calibri"/>
              </a:rPr>
              <a:t>D2 is the safety fork — see next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54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B8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C97A"/>
                </a:solidFill>
                <a:latin typeface="Calibri"/>
              </a:rPr>
              <a:t>THE ONE SAFETY CALL  [WARN]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Trust tier decides the UI mechanism — not a global choice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1672" cy="18288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3200400"/>
          </a:xfrm>
          <a:prstGeom prst="roundRect">
            <a:avLst/>
          </a:prstGeom>
          <a:solidFill>
            <a:srgbClr val="1B6314"/>
          </a:solidFill>
          <a:ln w="19050">
            <a:solidFill>
              <a:srgbClr val="6EA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937760" cy="2926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CDE498"/>
                </a:solidFill>
                <a:latin typeface="Calibri"/>
              </a:rPr>
              <a:t>TRUSTED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EF7E6"/>
                </a:solidFill>
                <a:latin typeface="Calibri"/>
              </a:rPr>
              <a:t>Built-in · first-party Remote UI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EEF7E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→  Module Federation into Extension Slots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EF7E6"/>
                </a:solidFill>
                <a:latin typeface="Calibri"/>
              </a:rPr>
              <a:t>mount / update / unmount; route · tab · action · widget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EEF7E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DE498"/>
                </a:solidFill>
                <a:latin typeface="Calibri"/>
              </a:rPr>
              <a:t>Deep integration, shared design system — because we build and review the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148840"/>
            <a:ext cx="5394960" cy="3200400"/>
          </a:xfrm>
          <a:prstGeom prst="roundRect">
            <a:avLst/>
          </a:prstGeom>
          <a:solidFill>
            <a:srgbClr val="5A3A0B"/>
          </a:solidFill>
          <a:ln w="19050">
            <a:solidFill>
              <a:srgbClr val="B86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331720"/>
            <a:ext cx="4937760" cy="2926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2C97A"/>
                </a:solidFill>
                <a:latin typeface="Calibri"/>
              </a:rPr>
              <a:t>UNTRUSTED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EF7E6"/>
                </a:solidFill>
                <a:latin typeface="Calibri"/>
              </a:rPr>
              <a:t>Third-party partner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EEF7E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→  Sandboxed iframe / bridge or isolated Web Component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EF7E6"/>
                </a:solidFill>
                <a:latin typeface="Calibri"/>
              </a:rPr>
              <a:t>no shared runtime, no shared singletons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EEF7E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C97A"/>
                </a:solidFill>
                <a:latin typeface="Calibri"/>
              </a:rPr>
              <a:t>Blast-radius isolation — a bad module crashes its own box, never 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DE498"/>
                </a:solidFill>
                <a:latin typeface="Calibri"/>
              </a:rPr>
              <a:t>The deck already lists Sandboxed as its 4th runtime; governance's Web-Component/iframe isolation is the safe floor. Make the rule explicit and D2, D4, D5 all cohere.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85800" cy="502920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85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7472"/>
            <a:ext cx="86868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EAA49"/>
                </a:solidFill>
                <a:latin typeface="Calibri"/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66928"/>
            <a:ext cx="969264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3540C"/>
                </a:solidFill>
                <a:latin typeface="Calibri"/>
              </a:rPr>
              <a:t>Adopt the frame, keep the floor, merge the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47472"/>
            <a:ext cx="6858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DEFC8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74552" cy="18288"/>
          </a:xfrm>
          <a:prstGeom prst="roundRect">
            <a:avLst/>
          </a:prstGeom>
          <a:solidFill>
            <a:srgbClr val="DD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640080" cy="109728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64008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636776"/>
            <a:ext cx="452628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540C"/>
                </a:solidFill>
                <a:latin typeface="Calibri"/>
              </a:rPr>
              <a:t>One manifest/contract, four runtimes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Built-in / Remote UI / Service / Sandboxed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50876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508760"/>
            <a:ext cx="640080" cy="109728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08760"/>
            <a:ext cx="64008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636776"/>
            <a:ext cx="452628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540C"/>
                </a:solidFill>
                <a:latin typeface="Calibri"/>
              </a:rPr>
              <a:t>UI mechanism by trust tier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MF for trusted; sandbox/WC for third-party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640080" cy="109728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64008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2871216"/>
            <a:ext cx="452628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540C"/>
                </a:solidFill>
                <a:latin typeface="Calibri"/>
              </a:rPr>
              <a:t>Three-state lifecycle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Install → Load → Enable (health/compat gates)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74320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2743200"/>
            <a:ext cx="640080" cy="109728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2743200"/>
            <a:ext cx="64008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871216"/>
            <a:ext cx="452628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540C"/>
                </a:solidFill>
                <a:latin typeface="Calibri"/>
              </a:rPr>
              <a:t>Tiered data rules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built-in shares DB; third-party never touches Core 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77639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3977639"/>
            <a:ext cx="640080" cy="109728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77639"/>
            <a:ext cx="64008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05655"/>
            <a:ext cx="452628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540C"/>
                </a:solidFill>
                <a:latin typeface="Calibri"/>
              </a:rPr>
              <a:t>Trust &amp; Marketplace controls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signing · checksum · SBOM · approval · revocation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3977639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45352" y="3977639"/>
            <a:ext cx="640080" cy="109728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3977639"/>
            <a:ext cx="64008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105655"/>
            <a:ext cx="452628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540C"/>
                </a:solidFill>
                <a:latin typeface="Calibri"/>
              </a:rPr>
              <a:t>Keep both integration surfaces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gateway catalog (sync) + event bus/outbox (async)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12080"/>
            <a:ext cx="5394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5212080"/>
            <a:ext cx="640080" cy="109728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64008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7" y="5340096"/>
            <a:ext cx="4526280" cy="8686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3540C"/>
                </a:solidFill>
                <a:latin typeface="Calibri"/>
              </a:rPr>
              <a:t>Incremental roadmap, no big-bang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Phase 0 contract → 1 core → 2 FE → 3 BE → 4 trust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B54"/>
                </a:solidFill>
                <a:latin typeface="Calibri"/>
              </a:rPr>
              <a:t>Governance's rule becomes the third-party rule; the deck supplies the 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85800" cy="502920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85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7472"/>
            <a:ext cx="86868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EAA49"/>
                </a:solidFill>
                <a:latin typeface="Calibri"/>
              </a:rPr>
              <a:t>RECONCILED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66928"/>
            <a:ext cx="969264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3540C"/>
                </a:solidFill>
                <a:latin typeface="Calibri"/>
              </a:rPr>
              <a:t>One contract, four runtimes, trust-tiered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47472"/>
            <a:ext cx="6858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DEFC8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74552" cy="18288"/>
          </a:xfrm>
          <a:prstGeom prst="roundRect">
            <a:avLst/>
          </a:prstGeom>
          <a:solidFill>
            <a:srgbClr val="DD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120640" cy="1051560"/>
          </a:xfrm>
          <a:prstGeom prst="roundRect">
            <a:avLst/>
          </a:prstGeom>
          <a:solidFill>
            <a:srgbClr val="CDE498"/>
          </a:solidFill>
          <a:ln w="15875">
            <a:solidFill>
              <a:srgbClr val="135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493776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3540C"/>
                </a:solidFill>
                <a:latin typeface="Calibri"/>
              </a:rPr>
              <a:t>Platform Kernel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Auth · Tenant · Rights · Registry+Lifecycle · Platform API + Event Bus (outbox)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120640" cy="1051560"/>
          </a:xfrm>
          <a:prstGeom prst="roundRect">
            <a:avLst/>
          </a:prstGeom>
          <a:solidFill>
            <a:srgbClr val="CDE498"/>
          </a:solidFill>
          <a:ln w="15875">
            <a:solidFill>
              <a:srgbClr val="135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493776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3540C"/>
                </a:solidFill>
                <a:latin typeface="Calibri"/>
              </a:rPr>
              <a:t>Business Core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Model · Version · Files · Reference Data · Document/Component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10881360" cy="640080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108813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Extension Contract  —  manifest · scopes · slots · SDK · 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26060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8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2606040" cy="45720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606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Built-in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51960"/>
            <a:ext cx="2423160" cy="1371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3540C"/>
                </a:solidFill>
                <a:latin typeface="Calibri"/>
              </a:rPr>
              <a:t>compiled with KF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1A3D15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shared Postgres,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logical 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3455" y="3703320"/>
            <a:ext cx="26060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A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3455" y="3703320"/>
            <a:ext cx="2606040" cy="457200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3455" y="3703320"/>
            <a:ext cx="2606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Remote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895" y="4251960"/>
            <a:ext cx="2423160" cy="1371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3540C"/>
                </a:solidFill>
                <a:latin typeface="Calibri"/>
              </a:rPr>
              <a:t>MF into slots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1A3D15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TRUSTED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deep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6830" y="3703320"/>
            <a:ext cx="26060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8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86830" y="3703320"/>
            <a:ext cx="2606040" cy="457200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6830" y="3703320"/>
            <a:ext cx="2606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270" y="4251960"/>
            <a:ext cx="2423160" cy="1371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3540C"/>
                </a:solidFill>
                <a:latin typeface="Calibri"/>
              </a:rPr>
              <a:t>container + SDK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1A3D15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own DB,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API/events into 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0205" y="3703320"/>
            <a:ext cx="26060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6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0205" y="3703320"/>
            <a:ext cx="2606040" cy="457200"/>
          </a:xfrm>
          <a:prstGeom prst="roundRect">
            <a:avLst/>
          </a:prstGeom>
          <a:solidFill>
            <a:srgbClr val="B86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0205" y="3703320"/>
            <a:ext cx="260604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Sandboxed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1645" y="4251960"/>
            <a:ext cx="2423160" cy="1371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3540C"/>
                </a:solidFill>
                <a:latin typeface="Calibri"/>
              </a:rPr>
              <a:t>third-party iframe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1A3D15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NO Core DB · signed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3D15"/>
                </a:solidFill>
                <a:latin typeface="Calibri"/>
              </a:rPr>
              <a:t>+ revocable · isolated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B54"/>
                </a:solidFill>
                <a:latin typeface="Calibri"/>
              </a:rPr>
              <a:t>Trust tier is the axis: trusted → deep integration; untrusted → hard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A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685800" cy="502920"/>
          </a:xfrm>
          <a:prstGeom prst="roundRect">
            <a:avLst/>
          </a:prstGeom>
          <a:solidFill>
            <a:srgbClr val="135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685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7472"/>
            <a:ext cx="86868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EAA49"/>
                </a:solidFill>
                <a:latin typeface="Calibri"/>
              </a:rPr>
              <a:t>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66928"/>
            <a:ext cx="969264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3540C"/>
                </a:solidFill>
                <a:latin typeface="Calibri"/>
              </a:rPr>
              <a:t>Open decisions to close — with recommended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47472"/>
            <a:ext cx="6858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DEFC8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11274552" cy="18288"/>
          </a:xfrm>
          <a:prstGeom prst="roundRect">
            <a:avLst/>
          </a:prstGeom>
          <a:solidFill>
            <a:srgbClr val="DDE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745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554480"/>
            <a:ext cx="128016" cy="868680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12064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1. What goes in Business Core?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645920"/>
            <a:ext cx="566928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3D15"/>
                </a:solidFill>
                <a:latin typeface="Calibri"/>
              </a:rPr>
              <a:t>Model, Version, Files, Reference Data, Document/Component — the stable center. Modules extend, never duplicate.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23744"/>
            <a:ext cx="112745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523744"/>
            <a:ext cx="128016" cy="868680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15184"/>
            <a:ext cx="512064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2. Which runtime profiles?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15184"/>
            <a:ext cx="566928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3D15"/>
                </a:solidFill>
                <a:latin typeface="Calibri"/>
              </a:rPr>
              <a:t>All four — but third-party only via Sandboxed + Service. Never Built-in or shared-runtime Remote UI.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93008"/>
            <a:ext cx="112745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493008"/>
            <a:ext cx="128016" cy="868680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512064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3. Frontend contract v1?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84448"/>
            <a:ext cx="566928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3D15"/>
                </a:solidFill>
                <a:latin typeface="Calibri"/>
              </a:rPr>
              <a:t>mount/update/unmount into named slots; MF for trusted, iframe/bridge for untrusted.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62272"/>
            <a:ext cx="112745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462272"/>
            <a:ext cx="128016" cy="868680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512064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4. Data ownership rules?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553712"/>
            <a:ext cx="566928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3D15"/>
                </a:solidFill>
                <a:latin typeface="Calibri"/>
              </a:rPr>
              <a:t>Tiered; third-party gets schema_partner_* + scoped identity, never Core public.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31536"/>
            <a:ext cx="1127455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5431536"/>
            <a:ext cx="128016" cy="868680"/>
          </a:xfrm>
          <a:prstGeom prst="roundRect">
            <a:avLst/>
          </a:prstGeom>
          <a:solidFill>
            <a:srgbClr val="6EA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22975"/>
            <a:ext cx="512064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3540C"/>
                </a:solidFill>
                <a:latin typeface="Calibri"/>
              </a:rPr>
              <a:t>5. Trust level for third-party?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522975"/>
            <a:ext cx="566928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3D15"/>
                </a:solidFill>
                <a:latin typeface="Calibri"/>
              </a:rPr>
              <a:t>Signed + checksum + SBOM + approval + revocation; sandboxed runtime; scoped M2M identity.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A6B54"/>
                </a:solidFill>
                <a:latin typeface="Calibri"/>
              </a:rPr>
              <a:t>Plus: add a thin third-party sandbox spike so the untrusted tier is proven, not just designed.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